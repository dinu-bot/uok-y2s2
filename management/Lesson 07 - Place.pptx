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46" r:id="rId2"/>
    <p:sldId id="482" r:id="rId3"/>
    <p:sldId id="485" r:id="rId4"/>
    <p:sldId id="483" r:id="rId5"/>
    <p:sldId id="484" r:id="rId6"/>
    <p:sldId id="486" r:id="rId7"/>
    <p:sldId id="4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2D3E5F"/>
    <a:srgbClr val="DD9D10"/>
    <a:srgbClr val="E8E9E8"/>
    <a:srgbClr val="D72823"/>
    <a:srgbClr val="4AAAB4"/>
    <a:srgbClr val="FFFFFF"/>
    <a:srgbClr val="990033"/>
    <a:srgbClr val="F9C8C8"/>
    <a:srgbClr val="FDD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061" autoAdjust="0"/>
  </p:normalViewPr>
  <p:slideViewPr>
    <p:cSldViewPr snapToGrid="0">
      <p:cViewPr varScale="1">
        <p:scale>
          <a:sx n="81" d="100"/>
          <a:sy n="81" d="100"/>
        </p:scale>
        <p:origin x="7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751A0-31EA-43CF-8292-23212A7E4CB8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3F56E-9929-439C-85F7-287E284A9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0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B08ABEE-F7EE-C04D-9664-1E9A55DCE5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37"/>
          <a:stretch/>
        </p:blipFill>
        <p:spPr>
          <a:xfrm>
            <a:off x="10495279" y="3972439"/>
            <a:ext cx="447041" cy="902346"/>
          </a:xfrm>
          <a:prstGeom prst="rect">
            <a:avLst/>
          </a:prstGeom>
          <a:solidFill>
            <a:srgbClr val="990000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4325A-1447-A320-EB5A-8F7F57AE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92E31-DD99-0394-4575-5A625662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0617-440F-CD42-1A7F-B77B9870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F7D73-1EC3-85B5-47B3-597A41F3AE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2584" y="3053853"/>
            <a:ext cx="12674584" cy="38646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B7324-726D-212B-0121-2BD7DA59F900}"/>
              </a:ext>
            </a:extLst>
          </p:cNvPr>
          <p:cNvSpPr txBox="1"/>
          <p:nvPr userDrawn="1"/>
        </p:nvSpPr>
        <p:spPr>
          <a:xfrm>
            <a:off x="-50792" y="274607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i="0" u="none" strike="noStrike" baseline="0" dirty="0">
                <a:solidFill>
                  <a:schemeClr val="bg1"/>
                </a:solidFill>
                <a:latin typeface="Helvetica Light" panose="020B0500000000000000" pitchFamily="34" charset="0"/>
              </a:rPr>
              <a:t>Centre of Excellence in Creating and Disseminating of Knowledge for Sustainable Development</a:t>
            </a:r>
            <a:endParaRPr lang="en-US" sz="1400" dirty="0">
              <a:solidFill>
                <a:schemeClr val="bg1"/>
              </a:solidFill>
              <a:latin typeface="Helvetica Light" panose="020B0500000000000000" pitchFamily="34" charset="0"/>
            </a:endParaRPr>
          </a:p>
        </p:txBody>
      </p:sp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EB98EBF-D81F-366C-1311-9371966047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203" y="1350089"/>
            <a:ext cx="5053594" cy="139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7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740C8994-4E3D-94CF-8571-8028FDA5B253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86B28-8B96-B7C0-8756-D393B28E5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A24C7-0E2B-DA98-E9CA-3C483AAD3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0617-440F-CD42-1A7F-B77B9870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4744" y="6308244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 with low confidence">
            <a:extLst>
              <a:ext uri="{FF2B5EF4-FFF2-40B4-BE49-F238E27FC236}">
                <a16:creationId xmlns:a16="http://schemas.microsoft.com/office/drawing/2014/main" id="{5D8CBD5C-5C1E-DD00-5AF2-A495BDE0D2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1DCF2-7783-C526-9C72-CFE70429A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7F26AD-7CFE-7C4C-C045-CFF6B3E69A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8ABC85-AA28-BC8C-018E-65CB63784E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91A059-C3D7-381A-8B5A-ED84A1D440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29"/>
          <a:stretch/>
        </p:blipFill>
        <p:spPr>
          <a:xfrm>
            <a:off x="9786193" y="6375709"/>
            <a:ext cx="2405808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0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B9FB387-834A-BF0C-F694-1B419979C316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7A293-A18C-4C21-0492-14FBAF67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BA8B-0B54-F451-A8EF-91C135C4D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1696A-A55D-3757-1027-A563DC64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2369" y="6308244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Icon&#10;&#10;Description automatically generated with low confidence">
            <a:extLst>
              <a:ext uri="{FF2B5EF4-FFF2-40B4-BE49-F238E27FC236}">
                <a16:creationId xmlns:a16="http://schemas.microsoft.com/office/drawing/2014/main" id="{EB3E5E59-11E7-2E8F-1862-D51120320D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561E15-3267-AE97-18A0-5F71DFAAC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34ABE1-33D3-DE0E-A51B-408FFD7699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2D8BC8-E14B-8928-87E5-DED66BB971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D51D4C-2741-C004-6172-FC3593BE84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6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BE06DE7-0B92-D8A0-8CD8-0F47001F756F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C0491-1336-575B-13EB-E4710318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0803C-3945-5BFB-90D3-83BA26BA8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8DAE8-30DE-0A78-A2B3-4325D60E5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1894" y="6306185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 with low confidence">
            <a:extLst>
              <a:ext uri="{FF2B5EF4-FFF2-40B4-BE49-F238E27FC236}">
                <a16:creationId xmlns:a16="http://schemas.microsoft.com/office/drawing/2014/main" id="{00FBFF35-8CE3-8E40-AA45-BC4D61F78B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7317B2-FEDE-E83D-0CBD-69F9FFC198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CF5F6A-8A2A-30B4-37A3-DC6294873B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CF237E-DABC-3EBD-9D9F-466DC27FC3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D2F119-881A-1757-BF2C-466DE8F722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3CF563C-D6FF-1549-A03F-44EFE9DD4A00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BF288-9EE7-D1DF-0646-E65830AD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88ED-FBEC-B22D-6999-077ACCED9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16511-C890-9609-784E-49E80D0A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D51E1-F385-0932-BBE6-CD9171D1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343" y="6306185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CDA52F92-941C-9375-D3B3-2D4C18AA7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43BF22-7305-810C-C3C6-6D82BAAD13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6C4C4C-EF43-954E-9AED-E5906196E4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C93BB-FD1D-5EBD-C405-A018EA7661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F4EE2A-DCA3-A3E9-0DDC-3353844E18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CF6D9C6E-98E0-896F-E9AE-6C261B123807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4920F-1AFA-45A1-8D44-0707191A1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041C4-5172-5A86-9651-96300237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A2AB5-7AAE-41A9-A867-FEBC0CC87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7BEF8-02E9-FB21-8092-FE223517D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0E05B5-D1AD-711E-F456-CE82CD905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94E68-E3CC-370B-1237-519249B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1894" y="6309995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Icon&#10;&#10;Description automatically generated with low confidence">
            <a:extLst>
              <a:ext uri="{FF2B5EF4-FFF2-40B4-BE49-F238E27FC236}">
                <a16:creationId xmlns:a16="http://schemas.microsoft.com/office/drawing/2014/main" id="{FD4C3136-5D6E-6583-8F2D-A6AD500072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97AAC6-5AAF-CA7A-C5D3-F1CDD362B3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FA8967-5996-6C47-AD95-A9EEBDB470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01EB91-DD94-4C54-A522-80891944B5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A6FC9A-18C5-C19A-4B23-58CC79F346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B577A5E8-B04B-D9D4-A8A0-92C72823FB65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618AF-81AC-9CE1-C478-A21F6C87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A6DF3-7F14-4C98-6827-9B9251C4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2369" y="6308244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 with low confidence">
            <a:extLst>
              <a:ext uri="{FF2B5EF4-FFF2-40B4-BE49-F238E27FC236}">
                <a16:creationId xmlns:a16="http://schemas.microsoft.com/office/drawing/2014/main" id="{67BD7D35-4E05-E791-1004-3C75DA90D3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B2F8BC-5A21-514C-AF60-3ADF819FE3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FB99FE-E723-0E6F-A6E5-68090F9351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C6A574-2687-CDC0-7D27-11C605463B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EACC38-5DDF-9D66-E832-7EEC0D819A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1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19887192-FA78-20C9-3732-B2A9583E040D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white, door, dark, tiled&#10;&#10;Description automatically generated">
            <a:extLst>
              <a:ext uri="{FF2B5EF4-FFF2-40B4-BE49-F238E27FC236}">
                <a16:creationId xmlns:a16="http://schemas.microsoft.com/office/drawing/2014/main" id="{7485AA2C-9D1D-A416-F294-66BE3CE292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" t="11982" r="2220" b="1203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2327D-6DB3-E8F7-1299-E3A9D1D2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2032" y="6315710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 with low confidence">
            <a:extLst>
              <a:ext uri="{FF2B5EF4-FFF2-40B4-BE49-F238E27FC236}">
                <a16:creationId xmlns:a16="http://schemas.microsoft.com/office/drawing/2014/main" id="{A17F92BF-A96F-F61C-3776-BEF2B143C6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9AC3D-6B96-22DE-404E-98EB885EDB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90589A-8EB9-E2A9-6F9C-7C420F851F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11291-6628-A90B-1280-F6EBB1BE2E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29B13D-E64C-0316-65B2-16BF9C936D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1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DD50644A-0DCB-C106-1992-BA8FF03A73FE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6A218-ADA9-12A8-019A-3B3D6392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0C99-E13F-388D-9619-179344F3A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3E115-B0C2-D6A3-F342-400F47FD5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218E5-846F-CA14-D6C0-07927B19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844" y="6315710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33D1ECC8-7921-9000-5E7D-FB2C44C77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383447-912B-5607-0C4D-969CD1EFAC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E84CCF-C0F3-4DD2-590A-878D363081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5E3201-0BE7-5050-EF1F-1DE5EFD89C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8D4E7D-8C88-29A2-F803-F59A681C37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2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C96CAE45-4A29-1157-6934-F20C6311459C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01075-0505-B6FA-1CD0-2FF98E9E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A367B-F66F-1327-4211-D8D9403C5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26597-3E55-82A5-6A2F-965ECE5FC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85E31-2EB6-F126-50D9-E0EEAA86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844" y="6312535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31896555-3452-8916-5E8E-FFE7BB9B1D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946350-7198-DF4D-18E1-0EA75BEAC9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26E2B7-4D87-2DF2-347C-EC2EF48036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C2ED05-8E30-0D8A-9B91-03049F4136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8156BA-2633-897A-7300-F1703ACB29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1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DE3E31E3-755C-891B-7B1D-69ECC0C28D33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5C1DD-247E-029B-E377-9D7D200B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F112A-0FFF-930E-041D-D6C7F3C4F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D24D2-039F-26B0-9A0C-3B876059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0387" y="6315710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 with low confidence">
            <a:extLst>
              <a:ext uri="{FF2B5EF4-FFF2-40B4-BE49-F238E27FC236}">
                <a16:creationId xmlns:a16="http://schemas.microsoft.com/office/drawing/2014/main" id="{28665270-2922-169C-6C97-BB61AF8DFE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B3782F-78C6-F510-5263-09F42B23E5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CB5576-A5A5-2C89-A44E-8EB10D840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8E390-23E2-9464-BCAC-29F5B60051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75EAD2-9FF3-B629-9B20-F32A8C005F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1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E72057B2-A133-EB7C-D5DA-035484A28613}"/>
              </a:ext>
            </a:extLst>
          </p:cNvPr>
          <p:cNvSpPr/>
          <p:nvPr userDrawn="1"/>
        </p:nvSpPr>
        <p:spPr>
          <a:xfrm>
            <a:off x="11616474" y="6375709"/>
            <a:ext cx="858633" cy="230196"/>
          </a:xfrm>
          <a:prstGeom prst="flowChartTerminator">
            <a:avLst/>
          </a:prstGeom>
          <a:solidFill>
            <a:srgbClr val="99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4106CE-8D69-FFCD-DA7D-07A54DE34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308E6-3C73-2928-65AE-6FA369E71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87C6F-A83C-75D1-E62A-B1D05160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2032" y="6308244"/>
            <a:ext cx="2743200" cy="36512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D384F89B-7A1F-4896-A572-7D35485486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 with low confidence">
            <a:extLst>
              <a:ext uri="{FF2B5EF4-FFF2-40B4-BE49-F238E27FC236}">
                <a16:creationId xmlns:a16="http://schemas.microsoft.com/office/drawing/2014/main" id="{5EA55A8E-D933-147D-C8F4-531386135F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6" y="6315710"/>
            <a:ext cx="1442888" cy="365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DDCE82-CC28-ED3C-29FF-EE8AA4495C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47" y="6375709"/>
            <a:ext cx="2688915" cy="230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142D0A-2618-4778-8CF0-DFE6E0FA72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62" y="6375709"/>
            <a:ext cx="2688915" cy="230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13F86B-3AEF-8ED2-0AE4-1DAF1BE9B6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77" y="6375709"/>
            <a:ext cx="2688915" cy="23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2FD136-FF56-2B8D-4CF6-79CE2FDF11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192" y="6375709"/>
            <a:ext cx="2688915" cy="2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5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21AD8-580D-4035-0A7D-9AC8019F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387E1-2945-75BE-94BF-AD8AEBDE5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39D8B-A2D9-79F1-DB96-768EB6071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4986C-A6F8-FECD-5F34-F3D0A64AF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4594F-5723-0A2A-1EE0-0749441F2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4F89B-7A1F-4896-A572-7D3548548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9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uman Sans Black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uman Sans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uman Sans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uman Sans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uman Sans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uman Sans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5D142E-FF46-6C9B-B4EF-4F56EAB2ED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00" t="3125" r="50" b="3125"/>
          <a:stretch/>
        </p:blipFill>
        <p:spPr>
          <a:xfrm>
            <a:off x="-30687" y="0"/>
            <a:ext cx="12222688" cy="73299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DEEE80-3648-C67D-DA71-7524682CBDA3}"/>
              </a:ext>
            </a:extLst>
          </p:cNvPr>
          <p:cNvSpPr/>
          <p:nvPr/>
        </p:nvSpPr>
        <p:spPr>
          <a:xfrm>
            <a:off x="-30688" y="0"/>
            <a:ext cx="12253375" cy="7329948"/>
          </a:xfrm>
          <a:prstGeom prst="rect">
            <a:avLst/>
          </a:prstGeom>
          <a:solidFill>
            <a:schemeClr val="tx1">
              <a:lumMod val="95000"/>
              <a:lumOff val="5000"/>
              <a:alpha val="7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52AEB-D041-AB2B-DC49-5B09BF50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A511AD-77C3-71F9-F8E9-6BF2FABDA255}"/>
              </a:ext>
            </a:extLst>
          </p:cNvPr>
          <p:cNvSpPr txBox="1">
            <a:spLocks/>
          </p:cNvSpPr>
          <p:nvPr/>
        </p:nvSpPr>
        <p:spPr>
          <a:xfrm>
            <a:off x="634180" y="560385"/>
            <a:ext cx="10884309" cy="7466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uman Sans Black" pitchFamily="50" charset="0"/>
                <a:ea typeface="+mj-ea"/>
                <a:cs typeface="+mj-cs"/>
              </a:defRPr>
            </a:lvl1pPr>
          </a:lstStyle>
          <a:p>
            <a:pPr marL="3208338" indent="-3208338" algn="ctr"/>
            <a:r>
              <a:rPr lang="en-US" dirty="0">
                <a:latin typeface="+mn-lt"/>
              </a:rPr>
              <a:t>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MGMT 22022 – Marketing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1AEC4-1812-FCA1-9451-F289D1B12B41}"/>
              </a:ext>
            </a:extLst>
          </p:cNvPr>
          <p:cNvSpPr/>
          <p:nvPr/>
        </p:nvSpPr>
        <p:spPr>
          <a:xfrm>
            <a:off x="0" y="5058697"/>
            <a:ext cx="12192000" cy="1622138"/>
          </a:xfrm>
          <a:prstGeom prst="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208F60-0ED4-758E-0D1D-4D3B723728CE}"/>
              </a:ext>
            </a:extLst>
          </p:cNvPr>
          <p:cNvSpPr txBox="1">
            <a:spLocks/>
          </p:cNvSpPr>
          <p:nvPr/>
        </p:nvSpPr>
        <p:spPr>
          <a:xfrm>
            <a:off x="-30687" y="2315496"/>
            <a:ext cx="12253374" cy="35024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Human Sans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uman San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uman San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uman San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uman San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Lesson - </a:t>
            </a:r>
            <a:r>
              <a:rPr lang="en-US" sz="4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07</a:t>
            </a:r>
            <a:endParaRPr lang="en-US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Place / Distribution</a:t>
            </a:r>
            <a:endParaRPr lang="en-US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6BDE4-D095-EC49-94D0-A6195CE8229E}"/>
              </a:ext>
            </a:extLst>
          </p:cNvPr>
          <p:cNvSpPr txBox="1"/>
          <p:nvPr/>
        </p:nvSpPr>
        <p:spPr>
          <a:xfrm>
            <a:off x="235974" y="5186321"/>
            <a:ext cx="116994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Lakna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Ranasinghe</a:t>
            </a:r>
            <a:endParaRPr lang="en-US" sz="2000" b="1" dirty="0"/>
          </a:p>
          <a:p>
            <a:pPr algn="ctr">
              <a:lnSpc>
                <a:spcPct val="150000"/>
              </a:lnSpc>
            </a:pPr>
            <a:r>
              <a:rPr lang="en-US" sz="1600" dirty="0"/>
              <a:t>Lecturer </a:t>
            </a:r>
            <a:r>
              <a:rPr lang="en-US" sz="1600" dirty="0" smtClean="0"/>
              <a:t>(Temporary)</a:t>
            </a:r>
            <a:endParaRPr lang="en-US" sz="1600" dirty="0"/>
          </a:p>
          <a:p>
            <a:pPr algn="ctr"/>
            <a:r>
              <a:rPr lang="en-US" sz="1600" dirty="0"/>
              <a:t>Department of Marketing Management</a:t>
            </a:r>
          </a:p>
          <a:p>
            <a:pPr algn="ctr"/>
            <a:r>
              <a:rPr lang="en-US" sz="1600" dirty="0"/>
              <a:t>University of Kelaniya</a:t>
            </a:r>
          </a:p>
          <a:p>
            <a:pPr algn="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27666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DEE15-A413-4DF9-3DF3-B680BE9A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F9C728-BDC1-18E0-B771-5E8B33F53164}"/>
              </a:ext>
            </a:extLst>
          </p:cNvPr>
          <p:cNvCxnSpPr>
            <a:cxnSpLocks/>
          </p:cNvCxnSpPr>
          <p:nvPr/>
        </p:nvCxnSpPr>
        <p:spPr>
          <a:xfrm>
            <a:off x="415295" y="1009936"/>
            <a:ext cx="11232107" cy="0"/>
          </a:xfrm>
          <a:prstGeom prst="line">
            <a:avLst/>
          </a:prstGeom>
          <a:ln w="57150"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3CF323-35A1-0123-DEFC-6D48BE122FDE}"/>
              </a:ext>
            </a:extLst>
          </p:cNvPr>
          <p:cNvSpPr txBox="1"/>
          <p:nvPr/>
        </p:nvSpPr>
        <p:spPr>
          <a:xfrm>
            <a:off x="306112" y="418478"/>
            <a:ext cx="8852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B2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What is Distribution?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CD31F-43D6-894D-F475-57FDF817B45C}"/>
              </a:ext>
            </a:extLst>
          </p:cNvPr>
          <p:cNvSpPr/>
          <p:nvPr/>
        </p:nvSpPr>
        <p:spPr>
          <a:xfrm>
            <a:off x="517301" y="1518390"/>
            <a:ext cx="10897951" cy="4353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Primarily all activities that relate to ensuring that products are made available for customers to buy in the 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right place, 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right quantity,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right time and 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right condition. </a:t>
            </a:r>
          </a:p>
          <a:p>
            <a:pPr marL="342900" indent="-342900" algn="just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include selecting a channel of distribution, physical distribution such as storage, loading, transportation, unloading, transit storage, breaking bulk packs</a:t>
            </a:r>
          </a:p>
        </p:txBody>
      </p:sp>
    </p:spTree>
    <p:extLst>
      <p:ext uri="{BB962C8B-B14F-4D97-AF65-F5344CB8AC3E}">
        <p14:creationId xmlns:p14="http://schemas.microsoft.com/office/powerpoint/2010/main" val="2438131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DEE15-A413-4DF9-3DF3-B680BE9A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F9C728-BDC1-18E0-B771-5E8B33F53164}"/>
              </a:ext>
            </a:extLst>
          </p:cNvPr>
          <p:cNvCxnSpPr>
            <a:cxnSpLocks/>
          </p:cNvCxnSpPr>
          <p:nvPr/>
        </p:nvCxnSpPr>
        <p:spPr>
          <a:xfrm>
            <a:off x="415295" y="1009936"/>
            <a:ext cx="11232107" cy="0"/>
          </a:xfrm>
          <a:prstGeom prst="line">
            <a:avLst/>
          </a:prstGeom>
          <a:ln w="57150"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3CF323-35A1-0123-DEFC-6D48BE122FDE}"/>
              </a:ext>
            </a:extLst>
          </p:cNvPr>
          <p:cNvSpPr txBox="1"/>
          <p:nvPr/>
        </p:nvSpPr>
        <p:spPr>
          <a:xfrm>
            <a:off x="306112" y="418478"/>
            <a:ext cx="8852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B2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Different Distribution Channels and Members </a:t>
            </a:r>
          </a:p>
        </p:txBody>
      </p:sp>
      <p:pic>
        <p:nvPicPr>
          <p:cNvPr id="6" name="Picture 2" descr="Image result for distribution channels">
            <a:extLst>
              <a:ext uri="{FF2B5EF4-FFF2-40B4-BE49-F238E27FC236}">
                <a16:creationId xmlns:a16="http://schemas.microsoft.com/office/drawing/2014/main" id="{C00E2FF6-472D-B3C0-6D83-08976AADB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40" y="1434695"/>
            <a:ext cx="8059904" cy="464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703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DEE15-A413-4DF9-3DF3-B680BE9A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F9C728-BDC1-18E0-B771-5E8B33F53164}"/>
              </a:ext>
            </a:extLst>
          </p:cNvPr>
          <p:cNvCxnSpPr>
            <a:cxnSpLocks/>
          </p:cNvCxnSpPr>
          <p:nvPr/>
        </p:nvCxnSpPr>
        <p:spPr>
          <a:xfrm>
            <a:off x="415295" y="1009936"/>
            <a:ext cx="11232107" cy="0"/>
          </a:xfrm>
          <a:prstGeom prst="line">
            <a:avLst/>
          </a:prstGeom>
          <a:ln w="57150"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3CF323-35A1-0123-DEFC-6D48BE122FDE}"/>
              </a:ext>
            </a:extLst>
          </p:cNvPr>
          <p:cNvSpPr txBox="1"/>
          <p:nvPr/>
        </p:nvSpPr>
        <p:spPr>
          <a:xfrm>
            <a:off x="306112" y="418478"/>
            <a:ext cx="8852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B2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Intermediaries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CD31F-43D6-894D-F475-57FDF817B45C}"/>
              </a:ext>
            </a:extLst>
          </p:cNvPr>
          <p:cNvSpPr/>
          <p:nvPr/>
        </p:nvSpPr>
        <p:spPr>
          <a:xfrm>
            <a:off x="517301" y="1518390"/>
            <a:ext cx="10897951" cy="4507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Organizations use intermediaries for distribution.</a:t>
            </a:r>
          </a:p>
          <a:p>
            <a:pPr marL="342900" indent="-342900" algn="just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Importance of intermediaries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Lack of financial resources 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Lack of necessary skills to perform distribution activities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 reduce costs and improve distribution efficiency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For distribution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More access to the market than producers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Offers the firm more than it can achieve on its own</a:t>
            </a:r>
          </a:p>
        </p:txBody>
      </p:sp>
    </p:spTree>
    <p:extLst>
      <p:ext uri="{BB962C8B-B14F-4D97-AF65-F5344CB8AC3E}">
        <p14:creationId xmlns:p14="http://schemas.microsoft.com/office/powerpoint/2010/main" val="1792546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DEE15-A413-4DF9-3DF3-B680BE9A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F9C728-BDC1-18E0-B771-5E8B33F53164}"/>
              </a:ext>
            </a:extLst>
          </p:cNvPr>
          <p:cNvCxnSpPr>
            <a:cxnSpLocks/>
          </p:cNvCxnSpPr>
          <p:nvPr/>
        </p:nvCxnSpPr>
        <p:spPr>
          <a:xfrm>
            <a:off x="415295" y="1009936"/>
            <a:ext cx="11232107" cy="0"/>
          </a:xfrm>
          <a:prstGeom prst="line">
            <a:avLst/>
          </a:prstGeom>
          <a:ln w="57150"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3CF323-35A1-0123-DEFC-6D48BE122FDE}"/>
              </a:ext>
            </a:extLst>
          </p:cNvPr>
          <p:cNvSpPr txBox="1"/>
          <p:nvPr/>
        </p:nvSpPr>
        <p:spPr>
          <a:xfrm>
            <a:off x="306112" y="418478"/>
            <a:ext cx="8852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B2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Functions of Intermediaries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CD31F-43D6-894D-F475-57FDF817B45C}"/>
              </a:ext>
            </a:extLst>
          </p:cNvPr>
          <p:cNvSpPr/>
          <p:nvPr/>
        </p:nvSpPr>
        <p:spPr>
          <a:xfrm>
            <a:off x="415295" y="1327062"/>
            <a:ext cx="10897951" cy="5353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Information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Storage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Promotion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Order Taking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Credit Exposure and Payment Collection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After Sales Service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Negotiation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Financing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Risk taking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2" descr="Image result for sri laNKA RETAIL shops">
            <a:extLst>
              <a:ext uri="{FF2B5EF4-FFF2-40B4-BE49-F238E27FC236}">
                <a16:creationId xmlns:a16="http://schemas.microsoft.com/office/drawing/2014/main" id="{2ED3D117-E537-4A4F-759C-6121FB7DD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377" y="1258823"/>
            <a:ext cx="362902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7AB8438D-E857-9522-486F-AF85141AD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873" y="4015761"/>
            <a:ext cx="3932817" cy="221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12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DEE15-A413-4DF9-3DF3-B680BE9A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F9C728-BDC1-18E0-B771-5E8B33F53164}"/>
              </a:ext>
            </a:extLst>
          </p:cNvPr>
          <p:cNvCxnSpPr>
            <a:cxnSpLocks/>
          </p:cNvCxnSpPr>
          <p:nvPr/>
        </p:nvCxnSpPr>
        <p:spPr>
          <a:xfrm>
            <a:off x="415295" y="1009936"/>
            <a:ext cx="11232107" cy="0"/>
          </a:xfrm>
          <a:prstGeom prst="line">
            <a:avLst/>
          </a:prstGeom>
          <a:ln w="57150"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3CF323-35A1-0123-DEFC-6D48BE122FDE}"/>
              </a:ext>
            </a:extLst>
          </p:cNvPr>
          <p:cNvSpPr txBox="1"/>
          <p:nvPr/>
        </p:nvSpPr>
        <p:spPr>
          <a:xfrm>
            <a:off x="306112" y="418478"/>
            <a:ext cx="8852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B2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Distribution Strategies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E1839-F062-C7EC-81EB-59C807D91416}"/>
              </a:ext>
            </a:extLst>
          </p:cNvPr>
          <p:cNvSpPr txBox="1"/>
          <p:nvPr/>
        </p:nvSpPr>
        <p:spPr>
          <a:xfrm>
            <a:off x="542004" y="1270758"/>
            <a:ext cx="11105398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Intensive Distribution: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Distributing the product through all responsible and suitable wholesalers or retailers 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Selective Distribution: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manufacturer is selectively appointing intermediaries to carry the products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Exclusive Distribution: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goods are sold through a very limited number of intermediaries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3DE0BF-4F13-BFBE-801D-BFFB6D2A6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322" y="2333143"/>
            <a:ext cx="4190051" cy="9359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433FB7-DA68-9F01-7160-6AE8AACC9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787" y="3984742"/>
            <a:ext cx="4627120" cy="13718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9B675E-F285-5244-5C25-D0D3A81FF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353" y="6072303"/>
            <a:ext cx="3995987" cy="67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6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2F1AD8-2C1C-3B97-A33F-7CA6571F66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AABFC-5010-1129-1736-DEDB957E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F89B-7A1F-4896-A572-7D3548548663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058F6-9F11-4811-C879-F774CC476FF3}"/>
              </a:ext>
            </a:extLst>
          </p:cNvPr>
          <p:cNvGrpSpPr/>
          <p:nvPr/>
        </p:nvGrpSpPr>
        <p:grpSpPr>
          <a:xfrm flipH="1">
            <a:off x="5663380" y="3716594"/>
            <a:ext cx="6528619" cy="1047136"/>
            <a:chOff x="0" y="235973"/>
            <a:chExt cx="15992283" cy="78166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A7A3C5-5C9B-767F-BD0F-BFC891D3F83F}"/>
                </a:ext>
              </a:extLst>
            </p:cNvPr>
            <p:cNvSpPr/>
            <p:nvPr/>
          </p:nvSpPr>
          <p:spPr>
            <a:xfrm>
              <a:off x="0" y="235974"/>
              <a:ext cx="14487745" cy="781665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/>
                <a:t> </a:t>
              </a:r>
              <a:r>
                <a:rPr 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THANK YOU</a:t>
              </a:r>
              <a:endPara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Flowchart: Delay 10">
              <a:extLst>
                <a:ext uri="{FF2B5EF4-FFF2-40B4-BE49-F238E27FC236}">
                  <a16:creationId xmlns:a16="http://schemas.microsoft.com/office/drawing/2014/main" id="{3BEBE1E8-492E-C6E7-AC7D-7D491025A999}"/>
                </a:ext>
              </a:extLst>
            </p:cNvPr>
            <p:cNvSpPr/>
            <p:nvPr/>
          </p:nvSpPr>
          <p:spPr>
            <a:xfrm>
              <a:off x="14487745" y="235973"/>
              <a:ext cx="1504538" cy="781665"/>
            </a:xfrm>
            <a:prstGeom prst="flowChartDelay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892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7034</TotalTime>
  <Words>211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Helvetica Light</vt:lpstr>
      <vt:lpstr>Human Sans</vt:lpstr>
      <vt:lpstr>Human Sans Black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Saumya Uditha Bandara</dc:creator>
  <cp:lastModifiedBy>yimeddegama@outlook.com</cp:lastModifiedBy>
  <cp:revision>172</cp:revision>
  <dcterms:created xsi:type="dcterms:W3CDTF">2022-11-28T14:23:12Z</dcterms:created>
  <dcterms:modified xsi:type="dcterms:W3CDTF">2025-01-19T08:14:03Z</dcterms:modified>
</cp:coreProperties>
</file>